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76" r:id="rId6"/>
    <p:sldId id="263" r:id="rId7"/>
    <p:sldId id="279" r:id="rId8"/>
    <p:sldId id="280" r:id="rId9"/>
    <p:sldId id="281" r:id="rId10"/>
    <p:sldId id="266" r:id="rId11"/>
    <p:sldId id="282" r:id="rId12"/>
    <p:sldId id="283" r:id="rId13"/>
    <p:sldId id="269" r:id="rId14"/>
    <p:sldId id="278" r:id="rId15"/>
    <p:sldId id="271" r:id="rId16"/>
    <p:sldId id="27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8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45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CABD-8E9D-D963-50A7-805A8DE9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58D20-724C-1C3B-4614-85845066D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AD94E-5C4F-606F-63AA-B849C971A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1B862-E7DF-143F-4E8E-730AB4773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79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F67B-C8DC-D2FD-2EB7-F1DDBC54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F30C7-83C4-5D46-253E-65CF3C993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95161-020C-C62E-0AA8-C46677F2F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93FED-64AE-2121-D026-EC36A72BB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4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D27D-B7DE-AE2B-14E4-B134F3D2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CD3A8-680C-FFC8-E194-904F87BDA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8DC34-EC0F-7768-5058-FC745D551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1F2BE-F3C5-BB38-147C-BD86625202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15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8F086-4D75-D7F2-7B85-0BAF27FC0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B4BF5-13B6-5284-159E-587A26B76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D1CA3-7407-1D10-A949-4AC3E4A4F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045AB-3EE0-80D2-DDFC-C8A817A3A2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88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7011-9917-6FBC-E3D5-CD167888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4C7D4-DDC3-DCE1-508E-55E9AC3C0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1811B-2633-2717-7E44-33297C4F6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8C454-D1E5-68D8-C179-93DFD58C0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50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00709-58B2-F585-EF8C-D93D3E0A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454FB-53C3-6680-0A25-57C61ED04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767A6-513C-14DF-ABC9-BE821DCBE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90890-940C-66E1-31D0-FBF3ABFC9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75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3858-988C-C067-7E02-76719112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0099A-ADD6-84FE-9D37-CE111C7B1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6E4E0-93F8-39DF-0F2D-9402B9AD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604E0-F993-6349-A455-496E8BA3E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489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402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425148" y="2683771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62400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1385" y="1458111"/>
            <a:ext cx="7481230" cy="1143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45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Double Ratchet trong E2EE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0" y="2713166"/>
            <a:ext cx="9144000" cy="41395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9C95D-E2DE-8C83-D892-21E36838C5DB}"/>
              </a:ext>
            </a:extLst>
          </p:cNvPr>
          <p:cNvSpPr txBox="1"/>
          <p:nvPr/>
        </p:nvSpPr>
        <p:spPr>
          <a:xfrm>
            <a:off x="363681" y="3415784"/>
            <a:ext cx="471747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dirty="0" err="1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Nhóm</a:t>
            </a:r>
            <a:r>
              <a:rPr lang="en-US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12</a:t>
            </a:r>
          </a:p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Đinh Ngọc Duyên 	20225124</a:t>
            </a:r>
          </a:p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Nguyễn Hữu Thắng	20225398</a:t>
            </a:r>
          </a:p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dirty="0" err="1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Trần</a:t>
            </a:r>
            <a:r>
              <a:rPr lang="en-US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Hải Nhật Minh	20225144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3935" y="480073"/>
            <a:ext cx="3936130" cy="9784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767356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Double Ratchet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66220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781072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Cơ chế hoạt động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66220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472359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Ý nghĩa bảo mật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353487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Double Ratchet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232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</a:t>
            </a: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016" b="1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46720" y="1143567"/>
            <a:ext cx="1901592" cy="3392989"/>
          </a:xfrm>
          <a:custGeom>
            <a:avLst/>
            <a:gdLst/>
            <a:ahLst/>
            <a:cxnLst/>
            <a:rect l="l" t="t" r="r" b="b"/>
            <a:pathLst>
              <a:path w="1901592" h="3392989">
                <a:moveTo>
                  <a:pt x="0" y="0"/>
                </a:moveTo>
                <a:moveTo>
                  <a:pt x="0" y="0"/>
                </a:moveTo>
                <a:lnTo>
                  <a:pt x="1901592" y="0"/>
                </a:lnTo>
                <a:lnTo>
                  <a:pt x="1901592" y="3392989"/>
                </a:lnTo>
                <a:lnTo>
                  <a:pt x="0" y="3392989"/>
                </a:lnTo>
                <a:close/>
              </a:path>
            </a:pathLst>
          </a:custGeom>
          <a:solidFill>
            <a:srgbClr val="EC9F48"/>
          </a:solidFill>
          <a:ln/>
          <a:effectLst>
            <a:outerShdw blurRad="47625" dist="38100" dir="2700000" algn="bl" rotWithShape="0">
              <a:srgbClr val="EC9F48">
                <a:alpha val="6588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814420" y="1026838"/>
            <a:ext cx="4079687" cy="41395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4AB666F7-927E-2A9B-B409-C56EA154D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529" y="1364134"/>
            <a:ext cx="60837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Thuật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cốt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lõi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Double Ratchet (Signal / WhatsApp)</a:t>
            </a:r>
          </a:p>
        </p:txBody>
      </p:sp>
      <p:sp>
        <p:nvSpPr>
          <p:cNvPr id="6" name="Shape 1"/>
          <p:cNvSpPr/>
          <p:nvPr/>
        </p:nvSpPr>
        <p:spPr>
          <a:xfrm>
            <a:off x="1225885" y="1238392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EC9F48"/>
          </a:solidFill>
          <a:ln w="38100">
            <a:solidFill>
              <a:schemeClr val="bg1"/>
            </a:solidFill>
          </a:ln>
        </p:spPr>
        <p:txBody>
          <a:bodyPr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</a:p>
        </p:txBody>
      </p:sp>
      <p:sp>
        <p:nvSpPr>
          <p:cNvPr id="8" name="Shape 3"/>
          <p:cNvSpPr/>
          <p:nvPr/>
        </p:nvSpPr>
        <p:spPr>
          <a:xfrm>
            <a:off x="1225885" y="2549430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EC9F48"/>
          </a:solidFill>
          <a:ln w="38100">
            <a:solidFill>
              <a:schemeClr val="bg1"/>
            </a:solidFill>
          </a:ln>
        </p:spPr>
        <p:txBody>
          <a:bodyPr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</a:p>
        </p:txBody>
      </p:sp>
      <p:sp>
        <p:nvSpPr>
          <p:cNvPr id="10" name="Shape 5"/>
          <p:cNvSpPr/>
          <p:nvPr/>
        </p:nvSpPr>
        <p:spPr>
          <a:xfrm>
            <a:off x="1225885" y="3835375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EC9F48"/>
          </a:solidFill>
          <a:ln w="38100">
            <a:solidFill>
              <a:schemeClr val="bg1"/>
            </a:solidFill>
          </a:ln>
        </p:spPr>
        <p:txBody>
          <a:bodyPr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1F8CD04B-AFD7-1743-3DF4-996BDEF6E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529" y="2672322"/>
            <a:ext cx="62039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hóa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đầu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cuối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+ Forward Secrecy + Break-in Recovery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7D8C3398-A00A-4AEB-99C9-237C1465B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529" y="3958267"/>
            <a:ext cx="47965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Môi trường giả định có giám sát chính phủ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9DEE3-7F4D-6E9D-0632-C5133B74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89C9A4-6632-904A-473B-967D677AC880}"/>
              </a:ext>
            </a:extLst>
          </p:cNvPr>
          <p:cNvSpPr/>
          <p:nvPr/>
        </p:nvSpPr>
        <p:spPr>
          <a:xfrm>
            <a:off x="921639" y="91586"/>
            <a:ext cx="8005161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hợp hai cơ chế Ratchet</a:t>
            </a:r>
            <a:endParaRPr lang="en-US" sz="144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5626E79-D4A0-11A8-BE03-2DAE5ECBB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6EA38232-9564-582B-E26F-7640ABB2C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3ED0D540-7962-599D-B754-E055AA7A4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B2CF3071-9972-E6FD-5EAB-BE0D1B020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9" y="1306072"/>
            <a:ext cx="8922252" cy="1895978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F4627AC1-A1C2-E0E2-9E47-4B7FDD35C597}"/>
              </a:ext>
            </a:extLst>
          </p:cNvPr>
          <p:cNvSpPr/>
          <p:nvPr/>
        </p:nvSpPr>
        <p:spPr>
          <a:xfrm>
            <a:off x="444122" y="1219329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E25BB38-9FFE-D63B-3351-17BFB1AEB6F4}"/>
              </a:ext>
            </a:extLst>
          </p:cNvPr>
          <p:cNvSpPr/>
          <p:nvPr/>
        </p:nvSpPr>
        <p:spPr>
          <a:xfrm>
            <a:off x="444122" y="1118849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46407AA-DD54-5F7E-C4BD-797BB64C5E43}"/>
              </a:ext>
            </a:extLst>
          </p:cNvPr>
          <p:cNvSpPr/>
          <p:nvPr/>
        </p:nvSpPr>
        <p:spPr>
          <a:xfrm>
            <a:off x="1965415" y="3374838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CD9B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819EF7B6-E6BA-32BC-A4EC-46DEB773BA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910284" y="1803510"/>
            <a:ext cx="2672235" cy="420501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4E65E03D-8F89-6930-BBEF-C31CEE85EA38}"/>
              </a:ext>
            </a:extLst>
          </p:cNvPr>
          <p:cNvSpPr/>
          <p:nvPr/>
        </p:nvSpPr>
        <p:spPr>
          <a:xfrm>
            <a:off x="1965415" y="3274358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2B44AB23-C432-8A7A-797B-4C366DA812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30840" y="4003614"/>
            <a:ext cx="1831405" cy="389174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11F323AD-AA51-EA0C-4BA9-ED01915E3CF5}"/>
              </a:ext>
            </a:extLst>
          </p:cNvPr>
          <p:cNvSpPr/>
          <p:nvPr/>
        </p:nvSpPr>
        <p:spPr>
          <a:xfrm>
            <a:off x="576986" y="152064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Kết hợp hai ratchet</a:t>
            </a:r>
            <a:endParaRPr lang="en-US" sz="144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AB10171D-CE84-0CE1-3241-408BB6718B72}"/>
              </a:ext>
            </a:extLst>
          </p:cNvPr>
          <p:cNvSpPr/>
          <p:nvPr/>
        </p:nvSpPr>
        <p:spPr>
          <a:xfrm>
            <a:off x="576870" y="1932592"/>
            <a:ext cx="2958288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Diffie-Hellman và Symmetric ratchet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để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liên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tục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cập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nhật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khóa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đảm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bảo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tính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bảo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mật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cao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nhất</a:t>
            </a:r>
            <a:endParaRPr lang="en-US" sz="144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A42806FB-61D9-2228-9832-33356B09219A}"/>
              </a:ext>
            </a:extLst>
          </p:cNvPr>
          <p:cNvSpPr/>
          <p:nvPr/>
        </p:nvSpPr>
        <p:spPr>
          <a:xfrm>
            <a:off x="1965428" y="3758789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Symmetric Ratchet</a:t>
            </a:r>
            <a:endParaRPr lang="en-US" sz="144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376AD24C-9799-43EF-0E6D-D61277943A99}"/>
              </a:ext>
            </a:extLst>
          </p:cNvPr>
          <p:cNvSpPr/>
          <p:nvPr/>
        </p:nvSpPr>
        <p:spPr>
          <a:xfrm>
            <a:off x="1965415" y="4170269"/>
            <a:ext cx="2958084" cy="34746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Từ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chain key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cũ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message key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và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chain key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mới</a:t>
            </a:r>
            <a:endParaRPr lang="en-US" sz="144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CF7BE516-CFB7-9FF7-FE17-352763B198AF}"/>
              </a:ext>
            </a:extLst>
          </p:cNvPr>
          <p:cNvSpPr/>
          <p:nvPr/>
        </p:nvSpPr>
        <p:spPr>
          <a:xfrm>
            <a:off x="3779623" y="1015203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30B0A286-E6DF-A61C-F46B-FC21F3E8D9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524621" y="1690310"/>
            <a:ext cx="2493292" cy="420501"/>
          </a:xfrm>
          <a:prstGeom prst="rect">
            <a:avLst/>
          </a:prstGeom>
        </p:spPr>
      </p:pic>
      <p:sp>
        <p:nvSpPr>
          <p:cNvPr id="31" name="Text 5">
            <a:extLst>
              <a:ext uri="{FF2B5EF4-FFF2-40B4-BE49-F238E27FC236}">
                <a16:creationId xmlns:a16="http://schemas.microsoft.com/office/drawing/2014/main" id="{25DA4FD1-A053-BC50-B8E7-B5958B45C125}"/>
              </a:ext>
            </a:extLst>
          </p:cNvPr>
          <p:cNvSpPr/>
          <p:nvPr/>
        </p:nvSpPr>
        <p:spPr>
          <a:xfrm>
            <a:off x="3779623" y="914723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2048" name="Shape 6">
            <a:extLst>
              <a:ext uri="{FF2B5EF4-FFF2-40B4-BE49-F238E27FC236}">
                <a16:creationId xmlns:a16="http://schemas.microsoft.com/office/drawing/2014/main" id="{2E628399-6D9C-B71B-9B89-B32A26FDCCAF}"/>
              </a:ext>
            </a:extLst>
          </p:cNvPr>
          <p:cNvSpPr/>
          <p:nvPr/>
        </p:nvSpPr>
        <p:spPr>
          <a:xfrm>
            <a:off x="5604416" y="3020728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CD9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9" name="Text 8">
            <a:extLst>
              <a:ext uri="{FF2B5EF4-FFF2-40B4-BE49-F238E27FC236}">
                <a16:creationId xmlns:a16="http://schemas.microsoft.com/office/drawing/2014/main" id="{30B51918-6E8A-28A6-4352-A4D3A595AF39}"/>
              </a:ext>
            </a:extLst>
          </p:cNvPr>
          <p:cNvSpPr/>
          <p:nvPr/>
        </p:nvSpPr>
        <p:spPr>
          <a:xfrm>
            <a:off x="5613560" y="2929392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pic>
        <p:nvPicPr>
          <p:cNvPr id="2051" name="Image 7" descr="preencoded.png">
            <a:extLst>
              <a:ext uri="{FF2B5EF4-FFF2-40B4-BE49-F238E27FC236}">
                <a16:creationId xmlns:a16="http://schemas.microsoft.com/office/drawing/2014/main" id="{A23FDB64-4632-FC6B-2F1E-D85548B896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808088" y="3818367"/>
            <a:ext cx="1831405" cy="389174"/>
          </a:xfrm>
          <a:prstGeom prst="rect">
            <a:avLst/>
          </a:prstGeom>
        </p:spPr>
      </p:pic>
      <p:sp>
        <p:nvSpPr>
          <p:cNvPr id="2053" name="Text 15">
            <a:extLst>
              <a:ext uri="{FF2B5EF4-FFF2-40B4-BE49-F238E27FC236}">
                <a16:creationId xmlns:a16="http://schemas.microsoft.com/office/drawing/2014/main" id="{DE48F634-F8AF-2EEA-D0DC-D220C47D79B0}"/>
              </a:ext>
            </a:extLst>
          </p:cNvPr>
          <p:cNvSpPr/>
          <p:nvPr/>
        </p:nvSpPr>
        <p:spPr>
          <a:xfrm>
            <a:off x="5773522" y="339516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Mục tiêu kết hợp</a:t>
            </a:r>
            <a:endParaRPr lang="en-US" sz="1440" dirty="0"/>
          </a:p>
        </p:txBody>
      </p:sp>
      <p:sp>
        <p:nvSpPr>
          <p:cNvPr id="2055" name="Text 16">
            <a:extLst>
              <a:ext uri="{FF2B5EF4-FFF2-40B4-BE49-F238E27FC236}">
                <a16:creationId xmlns:a16="http://schemas.microsoft.com/office/drawing/2014/main" id="{72F5E484-09AC-4F8B-DAB5-DE11C1EF5A1F}"/>
              </a:ext>
            </a:extLst>
          </p:cNvPr>
          <p:cNvSpPr/>
          <p:nvPr/>
        </p:nvSpPr>
        <p:spPr>
          <a:xfrm>
            <a:off x="5773740" y="3813048"/>
            <a:ext cx="2958084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Đảm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bảo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tính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năng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forward secrecy và khả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năng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break-in recovery.</a:t>
            </a:r>
            <a:endParaRPr lang="en-US" sz="1440" dirty="0"/>
          </a:p>
        </p:txBody>
      </p:sp>
      <p:sp>
        <p:nvSpPr>
          <p:cNvPr id="2056" name="Text 11">
            <a:extLst>
              <a:ext uri="{FF2B5EF4-FFF2-40B4-BE49-F238E27FC236}">
                <a16:creationId xmlns:a16="http://schemas.microsoft.com/office/drawing/2014/main" id="{35030CC7-EBAD-EAA4-A4B9-135B8829B24A}"/>
              </a:ext>
            </a:extLst>
          </p:cNvPr>
          <p:cNvSpPr/>
          <p:nvPr/>
        </p:nvSpPr>
        <p:spPr>
          <a:xfrm>
            <a:off x="3827821" y="138112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Diffie-Hellman Ratchet</a:t>
            </a:r>
            <a:endParaRPr lang="en-US" sz="1440" dirty="0"/>
          </a:p>
        </p:txBody>
      </p:sp>
      <p:sp>
        <p:nvSpPr>
          <p:cNvPr id="2057" name="Text 12">
            <a:extLst>
              <a:ext uri="{FF2B5EF4-FFF2-40B4-BE49-F238E27FC236}">
                <a16:creationId xmlns:a16="http://schemas.microsoft.com/office/drawing/2014/main" id="{F6D92DFC-9355-4938-52D6-56A53327C215}"/>
              </a:ext>
            </a:extLst>
          </p:cNvPr>
          <p:cNvSpPr/>
          <p:nvPr/>
        </p:nvSpPr>
        <p:spPr>
          <a:xfrm>
            <a:off x="3808619" y="1803580"/>
            <a:ext cx="295808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Kích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hoạt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khi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nhận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public key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mới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shared secret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và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cập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nhật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root key.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2681493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Cơ chế hoạt động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162F5-FB80-85A1-56F7-D5AF9A9F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391FAB-97C1-E3B5-AD0B-77B82E9CF3A5}"/>
              </a:ext>
            </a:extLst>
          </p:cNvPr>
          <p:cNvSpPr/>
          <p:nvPr/>
        </p:nvSpPr>
        <p:spPr>
          <a:xfrm>
            <a:off x="921639" y="91586"/>
            <a:ext cx="8005161" cy="5616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spcBef>
                <a:spcPts val="375"/>
              </a:spcBef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Symmetric Ratchet</a:t>
            </a:r>
            <a:endParaRPr lang="en-US" sz="28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A699CEA-D5F4-4FD2-7B4A-45605A291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6A8625E9-AE70-F93B-CE35-2C6281380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12B0556D-8CC8-C0B5-87FE-6007C1D28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1F20ED41-B8C7-559C-1529-BF9A60CF60D8}"/>
              </a:ext>
            </a:extLst>
          </p:cNvPr>
          <p:cNvSpPr/>
          <p:nvPr/>
        </p:nvSpPr>
        <p:spPr>
          <a:xfrm>
            <a:off x="444122" y="1118849"/>
            <a:ext cx="750342" cy="4289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pic>
        <p:nvPicPr>
          <p:cNvPr id="31" name="Picture 2" descr="chữ">
            <a:extLst>
              <a:ext uri="{FF2B5EF4-FFF2-40B4-BE49-F238E27FC236}">
                <a16:creationId xmlns:a16="http://schemas.microsoft.com/office/drawing/2014/main" id="{26BE3C74-D4DB-972F-102F-963C55C5F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8" r="14634"/>
          <a:stretch>
            <a:fillRect/>
          </a:stretch>
        </p:blipFill>
        <p:spPr bwMode="auto">
          <a:xfrm>
            <a:off x="2680364" y="931627"/>
            <a:ext cx="3450272" cy="3590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006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11359-8BB1-B9F7-9715-345C97C53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291FD7-3EBD-0406-E267-DD84F956614D}"/>
              </a:ext>
            </a:extLst>
          </p:cNvPr>
          <p:cNvSpPr/>
          <p:nvPr/>
        </p:nvSpPr>
        <p:spPr>
          <a:xfrm>
            <a:off x="921639" y="91586"/>
            <a:ext cx="8005161" cy="5616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spcBef>
                <a:spcPts val="375"/>
              </a:spcBef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Diffie-Hellman Ratchet</a:t>
            </a:r>
            <a:endParaRPr lang="en-US" sz="28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0F7AA8F-5E0F-2DF5-4D5A-E91A55557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563A6358-1778-A177-A4D9-98C09415A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99E07A0D-4645-3733-EFAA-C278F02EB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B2E7C534-DFFC-EC98-030E-8ABE954FB6FD}"/>
              </a:ext>
            </a:extLst>
          </p:cNvPr>
          <p:cNvSpPr/>
          <p:nvPr/>
        </p:nvSpPr>
        <p:spPr>
          <a:xfrm>
            <a:off x="444122" y="1118849"/>
            <a:ext cx="750342" cy="4289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pic>
        <p:nvPicPr>
          <p:cNvPr id="2054" name="Picture 6" descr="chữ">
            <a:extLst>
              <a:ext uri="{FF2B5EF4-FFF2-40B4-BE49-F238E27FC236}">
                <a16:creationId xmlns:a16="http://schemas.microsoft.com/office/drawing/2014/main" id="{34BFB7F2-4B2F-1368-4265-49BD2F548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14" y="792974"/>
            <a:ext cx="3430075" cy="27808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098" name="Picture 2" descr="chữ">
            <a:extLst>
              <a:ext uri="{FF2B5EF4-FFF2-40B4-BE49-F238E27FC236}">
                <a16:creationId xmlns:a16="http://schemas.microsoft.com/office/drawing/2014/main" id="{A566D87D-2FCC-CC86-CEA1-03FA2490C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219" y="792974"/>
            <a:ext cx="3672767" cy="27808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837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68B54-E107-0187-F5DB-08D29AF1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9D7464-C079-7697-FACE-C64C4963FBEE}"/>
              </a:ext>
            </a:extLst>
          </p:cNvPr>
          <p:cNvSpPr/>
          <p:nvPr/>
        </p:nvSpPr>
        <p:spPr>
          <a:xfrm>
            <a:off x="921639" y="91586"/>
            <a:ext cx="8005161" cy="5616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spcBef>
                <a:spcPts val="375"/>
              </a:spcBef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Diffie-Hellman Ratchet</a:t>
            </a:r>
            <a:endParaRPr lang="en-US" sz="28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CBD79AF-0256-2ADA-D5FA-8DD671513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1DF538E7-0183-D987-B44D-9363F5B64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DD8DC385-7BA6-1025-4C5A-303F39B3F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765C23A8-DE8F-9383-7921-3A9629A7F74E}"/>
              </a:ext>
            </a:extLst>
          </p:cNvPr>
          <p:cNvSpPr/>
          <p:nvPr/>
        </p:nvSpPr>
        <p:spPr>
          <a:xfrm>
            <a:off x="444122" y="1118849"/>
            <a:ext cx="750342" cy="4289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pic>
        <p:nvPicPr>
          <p:cNvPr id="3076" name="Picture 4" descr="chữ">
            <a:extLst>
              <a:ext uri="{FF2B5EF4-FFF2-40B4-BE49-F238E27FC236}">
                <a16:creationId xmlns:a16="http://schemas.microsoft.com/office/drawing/2014/main" id="{3D67068E-9952-BE00-9BD4-0BDDB0282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928" y="993339"/>
            <a:ext cx="3978143" cy="34098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4401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Luồng gửi tin nhắn mã hóa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6" y="1705487"/>
            <a:ext cx="2365033" cy="275920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259254" y="2009574"/>
            <a:ext cx="749325" cy="749325"/>
          </a:xfrm>
          <a:custGeom>
            <a:avLst/>
            <a:gdLst/>
            <a:ahLst/>
            <a:cxnLst/>
            <a:rect l="l" t="t" r="r" b="b"/>
            <a:pathLst>
              <a:path w="749325" h="749325">
                <a:moveTo>
                  <a:pt x="374662" y="0"/>
                </a:moveTo>
                <a:moveTo>
                  <a:pt x="374662" y="0"/>
                </a:moveTo>
                <a:cubicBezTo>
                  <a:pt x="581444" y="0"/>
                  <a:pt x="749325" y="167881"/>
                  <a:pt x="749325" y="374662"/>
                </a:cubicBezTo>
                <a:cubicBezTo>
                  <a:pt x="749325" y="581444"/>
                  <a:pt x="581444" y="749325"/>
                  <a:pt x="374662" y="749325"/>
                </a:cubicBezTo>
                <a:cubicBezTo>
                  <a:pt x="167881" y="749325"/>
                  <a:pt x="0" y="581444"/>
                  <a:pt x="0" y="374662"/>
                </a:cubicBezTo>
                <a:cubicBezTo>
                  <a:pt x="0" y="167881"/>
                  <a:pt x="167881" y="0"/>
                  <a:pt x="374662" y="0"/>
                </a:cubic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2"/>
          <p:cNvSpPr/>
          <p:nvPr/>
        </p:nvSpPr>
        <p:spPr>
          <a:xfrm>
            <a:off x="879964" y="1315632"/>
            <a:ext cx="1035741" cy="1035741"/>
          </a:xfrm>
          <a:custGeom>
            <a:avLst/>
            <a:gdLst/>
            <a:ahLst/>
            <a:cxnLst/>
            <a:rect l="l" t="t" r="r" b="b"/>
            <a:pathLst>
              <a:path w="1035741" h="1035741">
                <a:moveTo>
                  <a:pt x="517870" y="0"/>
                </a:moveTo>
                <a:moveTo>
                  <a:pt x="517870" y="0"/>
                </a:moveTo>
                <a:cubicBezTo>
                  <a:pt x="803691" y="0"/>
                  <a:pt x="1035741" y="232050"/>
                  <a:pt x="1035741" y="517870"/>
                </a:cubicBezTo>
                <a:cubicBezTo>
                  <a:pt x="1035741" y="803691"/>
                  <a:pt x="803691" y="1035741"/>
                  <a:pt x="517870" y="1035741"/>
                </a:cubicBezTo>
                <a:cubicBezTo>
                  <a:pt x="232050" y="1035741"/>
                  <a:pt x="0" y="803691"/>
                  <a:pt x="0" y="517870"/>
                </a:cubicBezTo>
                <a:cubicBezTo>
                  <a:pt x="0" y="232050"/>
                  <a:pt x="232050" y="0"/>
                  <a:pt x="517870" y="0"/>
                </a:cubicBezTo>
                <a:close/>
              </a:path>
            </a:pathLst>
          </a:custGeom>
          <a:solidFill>
            <a:srgbClr val="CD9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1834996" y="1551059"/>
            <a:ext cx="1281788" cy="1281788"/>
          </a:xfrm>
          <a:custGeom>
            <a:avLst/>
            <a:gdLst/>
            <a:ahLst/>
            <a:cxnLst/>
            <a:rect l="l" t="t" r="r" b="b"/>
            <a:pathLst>
              <a:path w="1281788" h="1281788">
                <a:moveTo>
                  <a:pt x="640894" y="0"/>
                </a:moveTo>
                <a:moveTo>
                  <a:pt x="640894" y="0"/>
                </a:moveTo>
                <a:cubicBezTo>
                  <a:pt x="994613" y="0"/>
                  <a:pt x="1281788" y="287175"/>
                  <a:pt x="1281788" y="640894"/>
                </a:cubicBezTo>
                <a:cubicBezTo>
                  <a:pt x="1281788" y="994613"/>
                  <a:pt x="994613" y="1281788"/>
                  <a:pt x="640894" y="1281788"/>
                </a:cubicBezTo>
                <a:cubicBezTo>
                  <a:pt x="287175" y="1281788"/>
                  <a:pt x="0" y="994613"/>
                  <a:pt x="0" y="640894"/>
                </a:cubicBezTo>
                <a:cubicBezTo>
                  <a:pt x="0" y="287175"/>
                  <a:pt x="287175" y="0"/>
                  <a:pt x="640894" y="0"/>
                </a:cubic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961660" y="1508890"/>
            <a:ext cx="872348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2039716" y="1808311"/>
            <a:ext cx="87234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312" b="1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197743" y="2073340"/>
            <a:ext cx="872348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4008620" y="833510"/>
            <a:ext cx="4877824" cy="39177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Trước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khi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thiết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lập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phiên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4008620" y="1064460"/>
            <a:ext cx="4865914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Mỗi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bên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có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cặp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khóa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ElGamal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dài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hạn</a:t>
            </a:r>
            <a:b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</a:b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Trao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đổi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certificate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thông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qua CA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4008620" y="1982758"/>
            <a:ext cx="4877824" cy="39177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Bắt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đầu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gửi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tin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nhắn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4008620" y="2214564"/>
            <a:ext cx="4865876" cy="5538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Các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khóa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root key, chain key, message key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được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cập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nhật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liên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tục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thông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qua DH share key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và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cặp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ElGamal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tạm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thời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4048976" y="3279277"/>
            <a:ext cx="4877824" cy="39177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Mã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hóa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chính</a:t>
            </a: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96" b="1" dirty="0" err="1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phủ</a:t>
            </a:r>
            <a:endParaRPr lang="en-US" sz="1440" dirty="0"/>
          </a:p>
        </p:txBody>
      </p:sp>
      <p:sp>
        <p:nvSpPr>
          <p:cNvPr id="21" name="Text 15"/>
          <p:cNvSpPr/>
          <p:nvPr/>
        </p:nvSpPr>
        <p:spPr>
          <a:xfrm>
            <a:off x="4048976" y="3512038"/>
            <a:ext cx="4865876" cy="5538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Dùng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public key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của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chính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phủ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để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thành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DH_gov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Sau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đó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mã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hóa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sendingkey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và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gửi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08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vào</a:t>
            </a: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header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29372-A026-1197-0CFA-C80B444E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E71EC2-5852-47E8-8244-6F59C9074D49}"/>
              </a:ext>
            </a:extLst>
          </p:cNvPr>
          <p:cNvSpPr/>
          <p:nvPr/>
        </p:nvSpPr>
        <p:spPr>
          <a:xfrm>
            <a:off x="921639" y="91586"/>
            <a:ext cx="8005161" cy="623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spcBef>
                <a:spcPts val="375"/>
              </a:spcBef>
            </a:pPr>
            <a:r>
              <a:rPr lang="en-US" sz="2400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Double</a:t>
            </a:r>
            <a:r>
              <a:rPr lang="en-US" sz="2800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Ratchet</a:t>
            </a:r>
            <a:endParaRPr lang="en-US" sz="28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D8E540D-20C9-4C9C-44B8-17F6F576C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7986B760-B43E-3C99-1714-42E469827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F8151E38-0FD6-8431-BF75-B948F0A11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EC042113-A811-37F5-C391-B7D4292E1DF1}"/>
              </a:ext>
            </a:extLst>
          </p:cNvPr>
          <p:cNvSpPr/>
          <p:nvPr/>
        </p:nvSpPr>
        <p:spPr>
          <a:xfrm>
            <a:off x="444122" y="1118849"/>
            <a:ext cx="750342" cy="4289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pic>
        <p:nvPicPr>
          <p:cNvPr id="5122" name="Picture 2" descr="chữ">
            <a:extLst>
              <a:ext uri="{FF2B5EF4-FFF2-40B4-BE49-F238E27FC236}">
                <a16:creationId xmlns:a16="http://schemas.microsoft.com/office/drawing/2014/main" id="{03F7311B-EE8D-E90A-CDAE-F67FE66DB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410" y="714834"/>
            <a:ext cx="3503180" cy="43338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27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82CCF-2633-5722-1D59-F2D07082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7DE26F-8B35-BA61-7935-9A30E5A4DB0B}"/>
              </a:ext>
            </a:extLst>
          </p:cNvPr>
          <p:cNvSpPr/>
          <p:nvPr/>
        </p:nvSpPr>
        <p:spPr>
          <a:xfrm>
            <a:off x="921639" y="91586"/>
            <a:ext cx="8005161" cy="5616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spcBef>
                <a:spcPts val="375"/>
              </a:spcBef>
            </a:pPr>
            <a:r>
              <a:rPr lang="en-US" sz="2400" b="1" kern="0" spc="72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Mã</a:t>
            </a:r>
            <a:r>
              <a:rPr lang="en-US" sz="2400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kern="0" spc="72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hóa</a:t>
            </a:r>
            <a:r>
              <a:rPr lang="en-US" sz="2400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kern="0" spc="72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chính</a:t>
            </a:r>
            <a:r>
              <a:rPr lang="en-US" sz="2400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kern="0" spc="72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phủ</a:t>
            </a:r>
            <a:endParaRPr lang="en-US" sz="28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23225FC-3FA6-ECC5-A5D1-17240E203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1338FFB9-2814-2058-9DA7-7D56F4F92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41FB812C-29D8-672C-5BC1-1986B03F6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A18ED479-155E-2758-4269-D905E039210C}"/>
              </a:ext>
            </a:extLst>
          </p:cNvPr>
          <p:cNvSpPr/>
          <p:nvPr/>
        </p:nvSpPr>
        <p:spPr>
          <a:xfrm>
            <a:off x="444122" y="1118849"/>
            <a:ext cx="750342" cy="4289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pic>
        <p:nvPicPr>
          <p:cNvPr id="17" name="Picture 16" descr="A diagram of a computer&#10;&#10;AI-generated content may be incorrect.">
            <a:extLst>
              <a:ext uri="{FF2B5EF4-FFF2-40B4-BE49-F238E27FC236}">
                <a16:creationId xmlns:a16="http://schemas.microsoft.com/office/drawing/2014/main" id="{2459A0E1-CF3D-202B-3FD5-EF665C63C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293" y="1023353"/>
            <a:ext cx="7379746" cy="361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93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Ý nghĩa bảo mật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16115-BC72-3F3E-12C1-E38C2904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517A49-DC22-3008-99BC-C2A4A22E2AD7}"/>
              </a:ext>
            </a:extLst>
          </p:cNvPr>
          <p:cNvSpPr/>
          <p:nvPr/>
        </p:nvSpPr>
        <p:spPr>
          <a:xfrm>
            <a:off x="921639" y="91586"/>
            <a:ext cx="8005161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Forward Secrecy bảo vệ tin cũ</a:t>
            </a:r>
            <a:endParaRPr lang="en-US" sz="144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3EA8936-F59B-8398-2048-236D393B2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285D8C7-E074-3E2A-EF00-08B371C5D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A6BB4941-0856-80B3-9F86-4874AAD54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BB3A5184-AD44-3258-D601-D3A7183AF70A}"/>
              </a:ext>
            </a:extLst>
          </p:cNvPr>
          <p:cNvSpPr/>
          <p:nvPr/>
        </p:nvSpPr>
        <p:spPr>
          <a:xfrm>
            <a:off x="4076898" y="1160621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3402B2D-8EDF-4E77-D069-D7D384542853}"/>
              </a:ext>
            </a:extLst>
          </p:cNvPr>
          <p:cNvSpPr/>
          <p:nvPr/>
        </p:nvSpPr>
        <p:spPr>
          <a:xfrm>
            <a:off x="4027412" y="1143567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402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C1F82CC1-2A7D-55AC-0CEB-C41083E1719D}"/>
              </a:ext>
            </a:extLst>
          </p:cNvPr>
          <p:cNvSpPr/>
          <p:nvPr/>
        </p:nvSpPr>
        <p:spPr>
          <a:xfrm>
            <a:off x="4076898" y="2471659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26646FF-51FD-136C-C7B4-A116B2CB7895}"/>
              </a:ext>
            </a:extLst>
          </p:cNvPr>
          <p:cNvSpPr/>
          <p:nvPr/>
        </p:nvSpPr>
        <p:spPr>
          <a:xfrm>
            <a:off x="4027412" y="2454606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402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BD9F4FE1-8F6D-7DCD-0709-60107D6ED9C2}"/>
              </a:ext>
            </a:extLst>
          </p:cNvPr>
          <p:cNvSpPr/>
          <p:nvPr/>
        </p:nvSpPr>
        <p:spPr>
          <a:xfrm>
            <a:off x="4076898" y="3757604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BD516A7-BF32-3EC4-A177-E6422EAA41C7}"/>
              </a:ext>
            </a:extLst>
          </p:cNvPr>
          <p:cNvSpPr/>
          <p:nvPr/>
        </p:nvSpPr>
        <p:spPr>
          <a:xfrm>
            <a:off x="4027412" y="3740551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402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CA30610-FED9-32A6-B640-A56B654AF935}"/>
              </a:ext>
            </a:extLst>
          </p:cNvPr>
          <p:cNvSpPr/>
          <p:nvPr/>
        </p:nvSpPr>
        <p:spPr>
          <a:xfrm>
            <a:off x="246720" y="1143567"/>
            <a:ext cx="1901592" cy="3392989"/>
          </a:xfrm>
          <a:custGeom>
            <a:avLst/>
            <a:gdLst/>
            <a:ahLst/>
            <a:cxnLst/>
            <a:rect l="l" t="t" r="r" b="b"/>
            <a:pathLst>
              <a:path w="1901592" h="3392989">
                <a:moveTo>
                  <a:pt x="0" y="0"/>
                </a:moveTo>
                <a:moveTo>
                  <a:pt x="0" y="0"/>
                </a:moveTo>
                <a:lnTo>
                  <a:pt x="1901592" y="0"/>
                </a:lnTo>
                <a:lnTo>
                  <a:pt x="1901592" y="3392989"/>
                </a:lnTo>
                <a:lnTo>
                  <a:pt x="0" y="3392989"/>
                </a:lnTo>
                <a:close/>
              </a:path>
            </a:pathLst>
          </a:custGeom>
          <a:solidFill>
            <a:srgbClr val="EC9F48"/>
          </a:solidFill>
          <a:ln/>
          <a:effectLst>
            <a:outerShdw blurRad="47625" dist="38100" dir="2700000" algn="bl" rotWithShape="0">
              <a:srgbClr val="EC9F48">
                <a:alpha val="6588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FF5D2D6-6334-EA2D-8A6E-768EEA496CEF}"/>
              </a:ext>
            </a:extLst>
          </p:cNvPr>
          <p:cNvSpPr/>
          <p:nvPr/>
        </p:nvSpPr>
        <p:spPr>
          <a:xfrm>
            <a:off x="4814420" y="1026838"/>
            <a:ext cx="407968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Bảo vệ quá khứ</a:t>
            </a:r>
            <a:endParaRPr lang="en-US" sz="1440" dirty="0"/>
          </a:p>
        </p:txBody>
      </p:sp>
      <p:pic>
        <p:nvPicPr>
          <p:cNvPr id="14" name="Image 3" descr="https://oceandoc-ai.obs.ap-southeast-3.myhuaweicloud.com:443/image_1765900001193_L1vQ3P.jpg">
            <a:extLst>
              <a:ext uri="{FF2B5EF4-FFF2-40B4-BE49-F238E27FC236}">
                <a16:creationId xmlns:a16="http://schemas.microsoft.com/office/drawing/2014/main" id="{BF057324-1B74-38CB-EDBF-4196105702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6571" y="1483470"/>
            <a:ext cx="2713183" cy="2713183"/>
          </a:xfrm>
          <a:prstGeom prst="ellipse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9FCFE2BB-2F6E-B65B-55CE-2C4D5644C8CF}"/>
              </a:ext>
            </a:extLst>
          </p:cNvPr>
          <p:cNvSpPr/>
          <p:nvPr/>
        </p:nvSpPr>
        <p:spPr>
          <a:xfrm>
            <a:off x="4814420" y="1346878"/>
            <a:ext cx="407161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Tin nhắn cũ vẫn an toàn khi khóa hiện tại bị lộ.</a:t>
            </a:r>
            <a:endParaRPr lang="en-US" sz="144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845139E8-4CEB-5CE0-1F9C-1CC58F663465}"/>
              </a:ext>
            </a:extLst>
          </p:cNvPr>
          <p:cNvSpPr/>
          <p:nvPr/>
        </p:nvSpPr>
        <p:spPr>
          <a:xfrm>
            <a:off x="4814420" y="2333304"/>
            <a:ext cx="407968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Cơ chế hoạt động</a:t>
            </a:r>
            <a:endParaRPr lang="en-US" sz="144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AEBB007-00CE-BB43-3D0E-45977C8E6B3D}"/>
              </a:ext>
            </a:extLst>
          </p:cNvPr>
          <p:cNvSpPr/>
          <p:nvPr/>
        </p:nvSpPr>
        <p:spPr>
          <a:xfrm>
            <a:off x="4814420" y="2662488"/>
            <a:ext cx="4068316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Mỗi tin nhắn sử dụng khóa riêng, không thể suy ngược.</a:t>
            </a:r>
            <a:endParaRPr lang="en-US" sz="144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F7FD8E1-DF1A-93B1-C63D-AB7D37DB6F9C}"/>
              </a:ext>
            </a:extLst>
          </p:cNvPr>
          <p:cNvSpPr/>
          <p:nvPr/>
        </p:nvSpPr>
        <p:spPr>
          <a:xfrm>
            <a:off x="4814420" y="3648915"/>
            <a:ext cx="407968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Lợi ích bảo mật</a:t>
            </a:r>
            <a:endParaRPr lang="en-US" sz="144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5C43C0E-CDE1-7BD9-50C1-03FAD7D578D6}"/>
              </a:ext>
            </a:extLst>
          </p:cNvPr>
          <p:cNvSpPr/>
          <p:nvPr/>
        </p:nvSpPr>
        <p:spPr>
          <a:xfrm>
            <a:off x="4814420" y="3978099"/>
            <a:ext cx="407919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Giảm thiểu tác động khi bị tấn công, bảo vệ lịch sử trò chuyện.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1711429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232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Break-in recovery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42" y="2182914"/>
            <a:ext cx="1876429" cy="218916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169831" y="2750206"/>
            <a:ext cx="755736" cy="755736"/>
          </a:xfrm>
          <a:custGeom>
            <a:avLst/>
            <a:gdLst/>
            <a:ahLst/>
            <a:cxnLst/>
            <a:rect l="l" t="t" r="r" b="b"/>
            <a:pathLst>
              <a:path w="755736" h="755736">
                <a:moveTo>
                  <a:pt x="377868" y="0"/>
                </a:moveTo>
                <a:moveTo>
                  <a:pt x="377868" y="0"/>
                </a:moveTo>
                <a:cubicBezTo>
                  <a:pt x="586419" y="0"/>
                  <a:pt x="755736" y="169317"/>
                  <a:pt x="755736" y="377868"/>
                </a:cubicBezTo>
                <a:cubicBezTo>
                  <a:pt x="755736" y="586419"/>
                  <a:pt x="586419" y="755736"/>
                  <a:pt x="377868" y="755736"/>
                </a:cubicBezTo>
                <a:cubicBezTo>
                  <a:pt x="169317" y="755736"/>
                  <a:pt x="0" y="586419"/>
                  <a:pt x="0" y="377868"/>
                </a:cubicBezTo>
                <a:cubicBezTo>
                  <a:pt x="0" y="169317"/>
                  <a:pt x="169317" y="0"/>
                  <a:pt x="377868" y="0"/>
                </a:cubic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2"/>
          <p:cNvSpPr/>
          <p:nvPr/>
        </p:nvSpPr>
        <p:spPr>
          <a:xfrm>
            <a:off x="5252716" y="2182914"/>
            <a:ext cx="887793" cy="887793"/>
          </a:xfrm>
          <a:custGeom>
            <a:avLst/>
            <a:gdLst/>
            <a:ahLst/>
            <a:cxnLst/>
            <a:rect l="l" t="t" r="r" b="b"/>
            <a:pathLst>
              <a:path w="887793" h="887793">
                <a:moveTo>
                  <a:pt x="443896" y="0"/>
                </a:moveTo>
                <a:moveTo>
                  <a:pt x="443896" y="0"/>
                </a:moveTo>
                <a:cubicBezTo>
                  <a:pt x="688890" y="0"/>
                  <a:pt x="887793" y="198903"/>
                  <a:pt x="887793" y="443896"/>
                </a:cubicBezTo>
                <a:cubicBezTo>
                  <a:pt x="887793" y="688890"/>
                  <a:pt x="688890" y="887793"/>
                  <a:pt x="443896" y="887793"/>
                </a:cubicBezTo>
                <a:cubicBezTo>
                  <a:pt x="198903" y="887793"/>
                  <a:pt x="0" y="688890"/>
                  <a:pt x="0" y="443896"/>
                </a:cubicBezTo>
                <a:cubicBezTo>
                  <a:pt x="0" y="198903"/>
                  <a:pt x="198903" y="0"/>
                  <a:pt x="443896" y="0"/>
                </a:cubicBezTo>
                <a:close/>
              </a:path>
            </a:pathLst>
          </a:custGeom>
          <a:solidFill>
            <a:srgbClr val="CD9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4563656" y="1608559"/>
            <a:ext cx="1122667" cy="1122667"/>
          </a:xfrm>
          <a:custGeom>
            <a:avLst/>
            <a:gdLst/>
            <a:ahLst/>
            <a:cxnLst/>
            <a:rect l="l" t="t" r="r" b="b"/>
            <a:pathLst>
              <a:path w="1122667" h="1122667">
                <a:moveTo>
                  <a:pt x="561334" y="0"/>
                </a:moveTo>
                <a:moveTo>
                  <a:pt x="561334" y="0"/>
                </a:moveTo>
                <a:cubicBezTo>
                  <a:pt x="871142" y="0"/>
                  <a:pt x="1122667" y="251525"/>
                  <a:pt x="1122667" y="561334"/>
                </a:cubicBezTo>
                <a:cubicBezTo>
                  <a:pt x="1122667" y="871142"/>
                  <a:pt x="871142" y="1122667"/>
                  <a:pt x="561334" y="1122667"/>
                </a:cubicBezTo>
                <a:cubicBezTo>
                  <a:pt x="251525" y="1122667"/>
                  <a:pt x="0" y="871142"/>
                  <a:pt x="0" y="561334"/>
                </a:cubicBezTo>
                <a:cubicBezTo>
                  <a:pt x="0" y="251525"/>
                  <a:pt x="251525" y="0"/>
                  <a:pt x="561334" y="0"/>
                </a:cubic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3414742" y="1320059"/>
            <a:ext cx="1430147" cy="1430147"/>
          </a:xfrm>
          <a:custGeom>
            <a:avLst/>
            <a:gdLst/>
            <a:ahLst/>
            <a:cxnLst/>
            <a:rect l="l" t="t" r="r" b="b"/>
            <a:pathLst>
              <a:path w="1430147" h="1430147">
                <a:moveTo>
                  <a:pt x="715073" y="0"/>
                </a:moveTo>
                <a:moveTo>
                  <a:pt x="715073" y="0"/>
                </a:moveTo>
                <a:cubicBezTo>
                  <a:pt x="1109733" y="0"/>
                  <a:pt x="1430147" y="320414"/>
                  <a:pt x="1430147" y="715073"/>
                </a:cubicBezTo>
                <a:cubicBezTo>
                  <a:pt x="1430147" y="1109733"/>
                  <a:pt x="1109733" y="1430147"/>
                  <a:pt x="715073" y="1430147"/>
                </a:cubicBezTo>
                <a:cubicBezTo>
                  <a:pt x="320414" y="1430147"/>
                  <a:pt x="0" y="1109733"/>
                  <a:pt x="0" y="715073"/>
                </a:cubicBezTo>
                <a:cubicBezTo>
                  <a:pt x="0" y="320414"/>
                  <a:pt x="320414" y="0"/>
                  <a:pt x="715073" y="0"/>
                </a:cubicBezTo>
                <a:close/>
              </a:path>
            </a:pathLst>
          </a:custGeom>
          <a:solidFill>
            <a:srgbClr val="CD9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3021276" y="2265761"/>
            <a:ext cx="1038181" cy="1038181"/>
          </a:xfrm>
          <a:custGeom>
            <a:avLst/>
            <a:gdLst/>
            <a:ahLst/>
            <a:cxnLst/>
            <a:rect l="l" t="t" r="r" b="b"/>
            <a:pathLst>
              <a:path w="1038181" h="1038181">
                <a:moveTo>
                  <a:pt x="519090" y="0"/>
                </a:moveTo>
                <a:moveTo>
                  <a:pt x="519090" y="0"/>
                </a:moveTo>
                <a:cubicBezTo>
                  <a:pt x="805584" y="0"/>
                  <a:pt x="1038181" y="232597"/>
                  <a:pt x="1038181" y="519090"/>
                </a:cubicBezTo>
                <a:cubicBezTo>
                  <a:pt x="1038181" y="805584"/>
                  <a:pt x="805584" y="1038181"/>
                  <a:pt x="519090" y="1038181"/>
                </a:cubicBezTo>
                <a:cubicBezTo>
                  <a:pt x="232597" y="1038181"/>
                  <a:pt x="0" y="805584"/>
                  <a:pt x="0" y="519090"/>
                </a:cubicBezTo>
                <a:cubicBezTo>
                  <a:pt x="0" y="232597"/>
                  <a:pt x="232597" y="0"/>
                  <a:pt x="519090" y="0"/>
                </a:cubicBezTo>
                <a:close/>
              </a:path>
            </a:pathLst>
          </a:custGeom>
          <a:solidFill>
            <a:srgbClr val="EC9F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3214394" y="2494695"/>
            <a:ext cx="582652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3713297" y="1650065"/>
            <a:ext cx="815713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4830295" y="1862413"/>
            <a:ext cx="582652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413948" y="2379961"/>
            <a:ext cx="582652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4028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239824" y="984831"/>
            <a:ext cx="293430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Phục hồi sau tấn công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239824" y="1479440"/>
            <a:ext cx="2930906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Khôi phục bảo mật sau khi bị lộ khóa.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5969866" y="993038"/>
            <a:ext cx="293431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Cơ chế DH Ratchet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5969866" y="1479499"/>
            <a:ext cx="293431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 khóa mới khi nhận public key từ đối phương.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239824" y="3113260"/>
            <a:ext cx="293430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Ảnh hưởng tạm thời</a:t>
            </a:r>
            <a:endParaRPr lang="en-US" sz="1440" dirty="0"/>
          </a:p>
        </p:txBody>
      </p:sp>
      <p:sp>
        <p:nvSpPr>
          <p:cNvPr id="21" name="Text 15"/>
          <p:cNvSpPr/>
          <p:nvPr/>
        </p:nvSpPr>
        <p:spPr>
          <a:xfrm>
            <a:off x="239824" y="3557871"/>
            <a:ext cx="2930906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Lộ khóa chỉ ảnh hưởng đến một phần tin nhắn.</a:t>
            </a:r>
            <a:endParaRPr lang="en-US" sz="1440" dirty="0"/>
          </a:p>
        </p:txBody>
      </p:sp>
      <p:sp>
        <p:nvSpPr>
          <p:cNvPr id="22" name="Text 16"/>
          <p:cNvSpPr/>
          <p:nvPr/>
        </p:nvSpPr>
        <p:spPr>
          <a:xfrm>
            <a:off x="5969866" y="3097073"/>
            <a:ext cx="293431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EC9F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Tự động phục hồi</a:t>
            </a:r>
            <a:endParaRPr lang="en-US" sz="1440" dirty="0"/>
          </a:p>
        </p:txBody>
      </p:sp>
      <p:sp>
        <p:nvSpPr>
          <p:cNvPr id="23" name="Text 17"/>
          <p:cNvSpPr/>
          <p:nvPr/>
        </p:nvSpPr>
        <p:spPr>
          <a:xfrm>
            <a:off x="5969866" y="3557930"/>
            <a:ext cx="293431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Hệ thống tự khôi phục bảo mật qua trao đổi khóa mới.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5396" y="1666794"/>
            <a:ext cx="4313208" cy="101944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417</Words>
  <Application>Microsoft Office PowerPoint</Application>
  <PresentationFormat>On-screen Show (16:9)</PresentationFormat>
  <Paragraphs>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Microsoft Yahei</vt:lpstr>
      <vt:lpstr>Arial</vt:lpstr>
      <vt:lpstr>Noto Sans</vt:lpstr>
      <vt:lpstr>Noto Sans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Đinh Ngọc Duyên</cp:lastModifiedBy>
  <cp:revision>7</cp:revision>
  <dcterms:created xsi:type="dcterms:W3CDTF">2025-12-16T15:47:16Z</dcterms:created>
  <dcterms:modified xsi:type="dcterms:W3CDTF">2025-12-29T20:07:48Z</dcterms:modified>
</cp:coreProperties>
</file>